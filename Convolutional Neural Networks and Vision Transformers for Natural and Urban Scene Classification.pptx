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4C7"/>
    <a:srgbClr val="1E40AF"/>
    <a:srgbClr val="F59E0B"/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2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F16E9-C0FB-475A-BAD7-0BEFE336DFBF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3D5347-D243-407E-9500-10D69FA3D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582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D5347-D243-407E-9500-10D69FA3DC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00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F0C25-01C6-8C43-AE80-B8AF466E8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CFA8C1-281A-4E2E-E1EF-37E62F7DA7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30FAAB-D1D4-767D-0256-8D99B4A449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56772A-EBAE-F6C6-AE78-DF7EE0DE7D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D5347-D243-407E-9500-10D69FA3DC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311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39D1B-C8F2-1FD7-78E8-BD8F513C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C7CEA-C4CC-F97E-42BB-63731693A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99589-60F5-D030-7DD7-0625002D9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93D14-2271-DFCE-5DD2-BE83518C92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D5347-D243-407E-9500-10D69FA3DC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40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3936D-C094-D5AD-2A6A-54760F8A2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8D13B-C6A0-A777-0D64-10833B982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DAE1F-5BDD-21D3-2E20-5D36BCBAAA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B37AC-16C6-2750-56F4-FEE81A40CC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D5347-D243-407E-9500-10D69FA3DC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7959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01E01-88F6-D0BA-4E84-50E3C9CB7B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C1B46-2AB9-76B2-9757-1BE152920F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06FB16-8CF2-4226-466E-8046CB6704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4A11AD-D35C-55D4-2C25-7B9FB7372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D5347-D243-407E-9500-10D69FA3DCE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30316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DAF74-FD38-66E1-06B8-40B708304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1790A7-2BC1-6380-DABE-22B4908631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7BA3A2-1F07-12A0-3F5B-641C8BEC5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D6F97-FAC3-2595-5535-4E6E982BBB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63D5347-D243-407E-9500-10D69FA3DCE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214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67D6F-0EEE-4C43-1C52-2C73ACD37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2D928D-43B6-4E95-F74F-61B877D6B8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0002C-933E-F108-A654-EB52BB672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33F7-0B6F-4250-9A89-487FBA2894C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74B0F-C802-D159-A67E-6457D032B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0DBE4-240E-961C-9412-6A3FA6A68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2D91-69FD-48CA-8755-44D48282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269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98FEC-97D5-C7D1-6204-40C1AE337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020F98-1D7A-DBD9-8BAB-C264E05B3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1CF70-BADD-91C6-A71E-3024C88C9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33F7-0B6F-4250-9A89-487FBA2894C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D8B87-1F4A-EDFB-74F8-844014316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09AA9-16CC-6BC5-CACF-085477B81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2D91-69FD-48CA-8755-44D48282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80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AA962-90A8-FB4C-4DB3-F8EC79B75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033ACB-21C3-FC43-2B8E-C8849D037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C8B31-FE2F-C0E7-C042-9C6AD3F85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33F7-0B6F-4250-9A89-487FBA2894C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02756-96AB-C1A9-C80B-16E09DA40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E9C2A-9730-8D81-5E67-7B07D9D27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2D91-69FD-48CA-8755-44D48282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3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F39C1-22B3-F874-C8B2-E1A701580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5A5E5-4701-E2BB-71C7-701B56BFBB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6054AC-8E3B-94EE-F1B3-C01830F7E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00B501-994B-C3B4-9337-66F9AC126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33F7-0B6F-4250-9A89-487FBA2894C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8B4D9-1FED-DBBC-9147-BE196B4D0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5F347-98D8-1CFE-1FCF-AE2DC71EA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2D91-69FD-48CA-8755-44D48282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938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32134-1390-805B-5816-B420FDDB7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86FDAE-614D-8E4A-1747-2B44A2C88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C5C09-7D58-B1E0-022B-16A1EE744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85AD9-107D-DA40-D415-245690056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CA383F-9981-D7F5-8362-EF7F3D0EB1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DA001-089D-07CC-9019-DBC86840E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33F7-0B6F-4250-9A89-487FBA2894C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ED38C8-8C99-4E64-1FC6-FEEC2789A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E928EB-7329-9CC4-C778-A36D59032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2D91-69FD-48CA-8755-44D48282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08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12695-6AED-A247-97C9-46A208730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269807-A9E8-A4C6-7884-41BC8E4E0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33F7-0B6F-4250-9A89-487FBA2894C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C2F63E-2C34-415F-404C-0FEE8A519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20246C-224D-C74C-BB8F-BAAFC586D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2D91-69FD-48CA-8755-44D48282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20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51D1D1-280D-2AD5-8BA4-AAE902F7B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33F7-0B6F-4250-9A89-487FBA2894C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58AC0-E221-1EBF-FBBC-E42B09F60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78A49-FCA0-EB35-A6C7-49234426D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2D91-69FD-48CA-8755-44D48282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313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E2551-023D-7ACC-F1C9-D806AE789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4BBA2-43B6-B8A8-D2D9-C210E9E1A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E698DD-2777-CEEC-BC3C-6369528DD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6B4295-C942-EACB-F79E-CBDC4132C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33F7-0B6F-4250-9A89-487FBA2894C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E514B-E5B2-2F79-F189-9E9EAC9FD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64EC6C-5B6F-907C-8CB4-563988B2A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2D91-69FD-48CA-8755-44D48282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411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FDCBC-9846-881F-DA2D-66E91DEF0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001C3-1E22-3AA1-C371-3761115AB41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143F1F-FAAD-9069-1DE2-EDF6A734E5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2E1F72-2422-0128-3A39-95915C459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33F7-0B6F-4250-9A89-487FBA2894C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848B5-21D5-EEA5-287A-31DB479D6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B3183-2B67-FAFC-8F40-EE1A452B5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2D91-69FD-48CA-8755-44D48282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3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16BB2-AFB9-0D2B-06F1-759D77CB6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4A9D2F-AF6D-5DD1-1A2C-D05FB1655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7ECAF-DF4B-7EC7-4638-E7718BD72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33F7-0B6F-4250-9A89-487FBA2894C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C6C50D-B5FE-04CE-A936-23EC32C82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3B2E4-4813-C799-3540-1FFA10F6A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2D91-69FD-48CA-8755-44D48282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14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69C317-9A2E-9F03-83FC-048CEB626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D6FAF9-981A-AB51-F998-509CDC446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913B3-2004-A2EE-8CF9-662156999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933F7-0B6F-4250-9A89-487FBA2894C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7545E-AD81-B19E-95B3-61D16391B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13691-9D30-36B1-2322-B352C4150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812D91-69FD-48CA-8755-44D48282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043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7A816C-F4CC-BC07-19C2-34628C417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AB95A-9A7E-E1C5-B00B-6AD360372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FEFD6-8E78-14D3-5699-8C54A202E3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933F7-0B6F-4250-9A89-487FBA2894C5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619D0-8BB5-7238-FCCA-2CD9C32209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ADE8F-A9D9-9B08-EF96-8B4A071F8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812D91-69FD-48CA-8755-44D4828269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6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80F3A-9251-CBD4-BF51-1036800F04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076" y="1701648"/>
            <a:ext cx="9144000" cy="1655762"/>
          </a:xfrm>
        </p:spPr>
        <p:txBody>
          <a:bodyPr>
            <a:noAutofit/>
          </a:bodyPr>
          <a:lstStyle/>
          <a:p>
            <a:pPr algn="l"/>
            <a:r>
              <a:rPr lang="en-US" sz="3500" b="1" dirty="0">
                <a:latin typeface="Montserrat" pitchFamily="2" charset="0"/>
              </a:rPr>
              <a:t>Convolutional Neural Networks and Vision Transformers for Natural and Urban Scene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C1C331-F154-9947-1AC2-C69FFC8E41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2076" y="3626905"/>
            <a:ext cx="9144000" cy="1655762"/>
          </a:xfrm>
        </p:spPr>
        <p:txBody>
          <a:bodyPr>
            <a:normAutofit/>
          </a:bodyPr>
          <a:lstStyle/>
          <a:p>
            <a:pPr algn="l"/>
            <a:r>
              <a:rPr lang="en-US" sz="2000" dirty="0">
                <a:latin typeface="Montserrat" pitchFamily="2" charset="0"/>
              </a:rPr>
              <a:t>Subject: Deep Learning</a:t>
            </a:r>
          </a:p>
          <a:p>
            <a:pPr algn="l"/>
            <a:r>
              <a:rPr lang="en-US" sz="2000" dirty="0">
                <a:latin typeface="Montserrat" pitchFamily="2" charset="0"/>
              </a:rPr>
              <a:t>Teacher: Ricardo Abel Espinosa Loera</a:t>
            </a:r>
          </a:p>
          <a:p>
            <a:pPr algn="l"/>
            <a:r>
              <a:rPr lang="en-US" sz="2000" dirty="0">
                <a:latin typeface="Montserrat" pitchFamily="2" charset="0"/>
              </a:rPr>
              <a:t>Degree: MIACD 3</a:t>
            </a:r>
          </a:p>
          <a:p>
            <a:pPr algn="l"/>
            <a:r>
              <a:rPr lang="en-US" sz="2000" dirty="0">
                <a:latin typeface="Montserrat" pitchFamily="2" charset="0"/>
              </a:rPr>
              <a:t>Student: Josue Emmanuel Jauregui Arvilla</a:t>
            </a:r>
          </a:p>
          <a:p>
            <a:pPr algn="l"/>
            <a:endParaRPr lang="en-US" sz="2000" dirty="0">
              <a:latin typeface="Montserrat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898C81-18CD-4384-50C5-4DBA60B591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5390" y="3877766"/>
            <a:ext cx="2179216" cy="2179216"/>
          </a:xfrm>
          <a:prstGeom prst="rect">
            <a:avLst/>
          </a:prstGeom>
        </p:spPr>
      </p:pic>
      <p:pic>
        <p:nvPicPr>
          <p:cNvPr id="6" name="Picture 5" descr="Marca Institucional | Universidad Panamericana">
            <a:extLst>
              <a:ext uri="{FF2B5EF4-FFF2-40B4-BE49-F238E27FC236}">
                <a16:creationId xmlns:a16="http://schemas.microsoft.com/office/drawing/2014/main" id="{010BBE82-0C38-E5FD-088A-71D6B2733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944" y="0"/>
            <a:ext cx="1669056" cy="111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9562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A663E-9658-3DBA-D882-1748A73FE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rgbClr val="1E40AF"/>
                </a:solidFill>
                <a:latin typeface="Montserrat" pitchFamily="2" charset="0"/>
              </a:rPr>
              <a:t>Intel Image Classification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6230C8-832A-A39F-ED46-984F319412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5229" y="2159840"/>
            <a:ext cx="1113045" cy="11130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2FE140-B494-675F-02DA-4D212476502F}"/>
              </a:ext>
            </a:extLst>
          </p:cNvPr>
          <p:cNvSpPr txBox="1"/>
          <p:nvPr/>
        </p:nvSpPr>
        <p:spPr>
          <a:xfrm>
            <a:off x="1338786" y="3439708"/>
            <a:ext cx="1330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" pitchFamily="2" charset="0"/>
              </a:rPr>
              <a:t>Buildings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2F74BD-5864-22FF-04CC-37B1512F53F4}"/>
              </a:ext>
            </a:extLst>
          </p:cNvPr>
          <p:cNvSpPr txBox="1"/>
          <p:nvPr/>
        </p:nvSpPr>
        <p:spPr>
          <a:xfrm>
            <a:off x="2915808" y="3443006"/>
            <a:ext cx="906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" pitchFamily="2" charset="0"/>
              </a:rPr>
              <a:t>Forest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A2864DC-0D2D-7EC4-596E-7FB4FAE986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808" y="2245049"/>
            <a:ext cx="942626" cy="94262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AF7859-B1E9-CE45-FBB2-70F7A7F2DDC6}"/>
              </a:ext>
            </a:extLst>
          </p:cNvPr>
          <p:cNvSpPr txBox="1"/>
          <p:nvPr/>
        </p:nvSpPr>
        <p:spPr>
          <a:xfrm>
            <a:off x="4141373" y="3439708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" pitchFamily="2" charset="0"/>
              </a:rPr>
              <a:t>Glacier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B3460F-C02A-2DDF-5637-DED645AEB6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1373" y="2210660"/>
            <a:ext cx="942626" cy="94262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EAC4708-D157-741C-D54F-7160B602D48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25229" y="4178202"/>
            <a:ext cx="1113045" cy="111304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809CD90-8A4D-57D9-CEB7-9EE9AE03A124}"/>
              </a:ext>
            </a:extLst>
          </p:cNvPr>
          <p:cNvSpPr txBox="1"/>
          <p:nvPr/>
        </p:nvSpPr>
        <p:spPr>
          <a:xfrm>
            <a:off x="1338786" y="5458070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" pitchFamily="2" charset="0"/>
              </a:rPr>
              <a:t>Mountain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60C2AFA-5E1C-36A2-B2EA-97C5DD00D50E}"/>
              </a:ext>
            </a:extLst>
          </p:cNvPr>
          <p:cNvSpPr txBox="1"/>
          <p:nvPr/>
        </p:nvSpPr>
        <p:spPr>
          <a:xfrm>
            <a:off x="3092740" y="5426979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" pitchFamily="2" charset="0"/>
              </a:rPr>
              <a:t>Sea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185730C-DD75-7417-A926-2B2890129D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15808" y="4263411"/>
            <a:ext cx="942626" cy="942626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E50310C0-A30D-4D49-F1D9-527988F015E6}"/>
              </a:ext>
            </a:extLst>
          </p:cNvPr>
          <p:cNvSpPr txBox="1"/>
          <p:nvPr/>
        </p:nvSpPr>
        <p:spPr>
          <a:xfrm>
            <a:off x="4141373" y="5458070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" pitchFamily="2" charset="0"/>
              </a:rPr>
              <a:t>Street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D46D870-49C6-9942-769B-4E840F612FE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1373" y="4229022"/>
            <a:ext cx="942626" cy="942626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A838349-8A37-A6CE-B0FD-CF9F3B43AB9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6489" y="3272885"/>
            <a:ext cx="1043094" cy="104309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F7154296-B6B1-B944-97A7-4CA2752C2722}"/>
              </a:ext>
            </a:extLst>
          </p:cNvPr>
          <p:cNvSpPr txBox="1"/>
          <p:nvPr/>
        </p:nvSpPr>
        <p:spPr>
          <a:xfrm>
            <a:off x="6239154" y="4445198"/>
            <a:ext cx="10390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17,034</a:t>
            </a:r>
            <a:r>
              <a:rPr lang="en-US" b="1" dirty="0">
                <a:latin typeface="Montserrat" pitchFamily="2" charset="0"/>
              </a:rPr>
              <a:t> </a:t>
            </a:r>
          </a:p>
          <a:p>
            <a:pPr algn="ctr"/>
            <a:r>
              <a:rPr lang="en-US" dirty="0">
                <a:latin typeface="Montserrat" pitchFamily="2" charset="0"/>
              </a:rPr>
              <a:t>Images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A96BD9FA-034B-8425-52B2-459DDDDC9D6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6154" y="2170737"/>
            <a:ext cx="1043094" cy="1043094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24DC082-283C-1EEB-F900-F8F6A7BA2A41}"/>
              </a:ext>
            </a:extLst>
          </p:cNvPr>
          <p:cNvSpPr txBox="1"/>
          <p:nvPr/>
        </p:nvSpPr>
        <p:spPr>
          <a:xfrm>
            <a:off x="9557462" y="2399542"/>
            <a:ext cx="11288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14,034</a:t>
            </a:r>
            <a:r>
              <a:rPr lang="en-US" dirty="0">
                <a:latin typeface="Montserrat" pitchFamily="2" charset="0"/>
              </a:rPr>
              <a:t> </a:t>
            </a:r>
          </a:p>
          <a:p>
            <a:pPr algn="ctr"/>
            <a:r>
              <a:rPr lang="en-US" dirty="0">
                <a:latin typeface="Montserrat" pitchFamily="2" charset="0"/>
              </a:rPr>
              <a:t>Training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DE23B2-9099-901A-3404-728820943C21}"/>
              </a:ext>
            </a:extLst>
          </p:cNvPr>
          <p:cNvSpPr txBox="1"/>
          <p:nvPr/>
        </p:nvSpPr>
        <p:spPr>
          <a:xfrm>
            <a:off x="9701096" y="4811739"/>
            <a:ext cx="14093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Montserrat" pitchFamily="2" charset="0"/>
              </a:rPr>
              <a:t>3,000</a:t>
            </a:r>
          </a:p>
          <a:p>
            <a:pPr algn="ctr"/>
            <a:r>
              <a:rPr lang="en-US" dirty="0">
                <a:latin typeface="Montserrat" pitchFamily="2" charset="0"/>
              </a:rPr>
              <a:t>Evaluation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031F83C0-3AFE-C5AC-2CE4-03C1C1930BE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456154" y="4684490"/>
            <a:ext cx="1043094" cy="104309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357249C9-CEE1-B6B5-543B-B1F60D9DC40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080" y="3567679"/>
            <a:ext cx="748300" cy="748300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88896EF1-1248-6507-9665-55AA38E3F9E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8512914">
            <a:off x="6820937" y="2201318"/>
            <a:ext cx="1372473" cy="1325452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AECCA66B-68EA-8817-84BD-44A316CF88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62709">
            <a:off x="6958767" y="4795344"/>
            <a:ext cx="1372473" cy="1325452"/>
          </a:xfrm>
          <a:prstGeom prst="rect">
            <a:avLst/>
          </a:prstGeom>
          <a:scene3d>
            <a:camera prst="orthographicFront">
              <a:rot lat="0" lon="11099992" rev="18000000"/>
            </a:camera>
            <a:lightRig rig="threePt" dir="t"/>
          </a:scene3d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002C3DCE-9A10-AD62-0739-EE227609FF7F}"/>
              </a:ext>
            </a:extLst>
          </p:cNvPr>
          <p:cNvCxnSpPr>
            <a:cxnSpLocks/>
          </p:cNvCxnSpPr>
          <p:nvPr/>
        </p:nvCxnSpPr>
        <p:spPr>
          <a:xfrm>
            <a:off x="5307366" y="1568769"/>
            <a:ext cx="131499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4448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DA954-0C3B-D1EC-B244-BC77C07FA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ounded Rectangle 1">
            <a:extLst>
              <a:ext uri="{FF2B5EF4-FFF2-40B4-BE49-F238E27FC236}">
                <a16:creationId xmlns:a16="http://schemas.microsoft.com/office/drawing/2014/main" id="{DEAD40CB-1213-A285-A031-320D2796FDC1}"/>
              </a:ext>
            </a:extLst>
          </p:cNvPr>
          <p:cNvSpPr/>
          <p:nvPr/>
        </p:nvSpPr>
        <p:spPr>
          <a:xfrm>
            <a:off x="4309812" y="2164345"/>
            <a:ext cx="3758356" cy="2979390"/>
          </a:xfrm>
          <a:prstGeom prst="roundRect">
            <a:avLst>
              <a:gd name="adj" fmla="val 3041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A1E874B3-1840-BA30-FFBC-7B8CEED2D5B1}"/>
              </a:ext>
            </a:extLst>
          </p:cNvPr>
          <p:cNvSpPr/>
          <p:nvPr/>
        </p:nvSpPr>
        <p:spPr>
          <a:xfrm>
            <a:off x="702590" y="2447934"/>
            <a:ext cx="3416647" cy="6286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3">
            <a:extLst>
              <a:ext uri="{FF2B5EF4-FFF2-40B4-BE49-F238E27FC236}">
                <a16:creationId xmlns:a16="http://schemas.microsoft.com/office/drawing/2014/main" id="{D109D072-4E44-024A-FEFB-5FB39B4B99B1}"/>
              </a:ext>
            </a:extLst>
          </p:cNvPr>
          <p:cNvSpPr/>
          <p:nvPr/>
        </p:nvSpPr>
        <p:spPr>
          <a:xfrm>
            <a:off x="702590" y="3190884"/>
            <a:ext cx="3416647" cy="6286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ounded Rectangle 4">
            <a:extLst>
              <a:ext uri="{FF2B5EF4-FFF2-40B4-BE49-F238E27FC236}">
                <a16:creationId xmlns:a16="http://schemas.microsoft.com/office/drawing/2014/main" id="{F06E9BC5-64EA-A456-5FD4-CBFA8BA6706E}"/>
              </a:ext>
            </a:extLst>
          </p:cNvPr>
          <p:cNvSpPr/>
          <p:nvPr/>
        </p:nvSpPr>
        <p:spPr>
          <a:xfrm>
            <a:off x="702590" y="3933834"/>
            <a:ext cx="3416647" cy="6286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ounded Rectangle 6">
            <a:extLst>
              <a:ext uri="{FF2B5EF4-FFF2-40B4-BE49-F238E27FC236}">
                <a16:creationId xmlns:a16="http://schemas.microsoft.com/office/drawing/2014/main" id="{95E5264A-830B-719D-023C-EEB92EAC50F8}"/>
              </a:ext>
            </a:extLst>
          </p:cNvPr>
          <p:cNvSpPr/>
          <p:nvPr/>
        </p:nvSpPr>
        <p:spPr>
          <a:xfrm>
            <a:off x="8258593" y="2447934"/>
            <a:ext cx="3416796" cy="6286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7">
            <a:extLst>
              <a:ext uri="{FF2B5EF4-FFF2-40B4-BE49-F238E27FC236}">
                <a16:creationId xmlns:a16="http://schemas.microsoft.com/office/drawing/2014/main" id="{94AF82C3-2C89-E28A-C8E2-C4C1D2391F10}"/>
              </a:ext>
            </a:extLst>
          </p:cNvPr>
          <p:cNvSpPr/>
          <p:nvPr/>
        </p:nvSpPr>
        <p:spPr>
          <a:xfrm>
            <a:off x="8258593" y="3190884"/>
            <a:ext cx="3416796" cy="6286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8">
            <a:extLst>
              <a:ext uri="{FF2B5EF4-FFF2-40B4-BE49-F238E27FC236}">
                <a16:creationId xmlns:a16="http://schemas.microsoft.com/office/drawing/2014/main" id="{2FB2EE69-BA1D-330B-917B-D242C0BC0C63}"/>
              </a:ext>
            </a:extLst>
          </p:cNvPr>
          <p:cNvSpPr/>
          <p:nvPr/>
        </p:nvSpPr>
        <p:spPr>
          <a:xfrm>
            <a:off x="8258593" y="3933834"/>
            <a:ext cx="3416796" cy="6286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0" name="Picture 69" descr="image.png">
            <a:extLst>
              <a:ext uri="{FF2B5EF4-FFF2-40B4-BE49-F238E27FC236}">
                <a16:creationId xmlns:a16="http://schemas.microsoft.com/office/drawing/2014/main" id="{A4FA6573-9242-7C70-2715-2F459CFD1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65" y="2590809"/>
            <a:ext cx="342900" cy="342900"/>
          </a:xfrm>
          <a:prstGeom prst="rect">
            <a:avLst/>
          </a:prstGeom>
        </p:spPr>
      </p:pic>
      <p:pic>
        <p:nvPicPr>
          <p:cNvPr id="72" name="Picture 71" descr="image.png">
            <a:extLst>
              <a:ext uri="{FF2B5EF4-FFF2-40B4-BE49-F238E27FC236}">
                <a16:creationId xmlns:a16="http://schemas.microsoft.com/office/drawing/2014/main" id="{092E1BF1-6560-34F4-E79E-82E8FE2A5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465" y="3333759"/>
            <a:ext cx="342900" cy="342900"/>
          </a:xfrm>
          <a:prstGeom prst="rect">
            <a:avLst/>
          </a:prstGeom>
        </p:spPr>
      </p:pic>
      <p:pic>
        <p:nvPicPr>
          <p:cNvPr id="74" name="Picture 73" descr="image.png">
            <a:extLst>
              <a:ext uri="{FF2B5EF4-FFF2-40B4-BE49-F238E27FC236}">
                <a16:creationId xmlns:a16="http://schemas.microsoft.com/office/drawing/2014/main" id="{6CD74C55-84E9-32F4-91D6-AB8222BF28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465" y="4076709"/>
            <a:ext cx="342900" cy="342900"/>
          </a:xfrm>
          <a:prstGeom prst="rect">
            <a:avLst/>
          </a:prstGeom>
        </p:spPr>
      </p:pic>
      <p:pic>
        <p:nvPicPr>
          <p:cNvPr id="78" name="Picture 77" descr="image.png">
            <a:extLst>
              <a:ext uri="{FF2B5EF4-FFF2-40B4-BE49-F238E27FC236}">
                <a16:creationId xmlns:a16="http://schemas.microsoft.com/office/drawing/2014/main" id="{F81A8EE7-4501-EDE2-82D9-A9B2B9406B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468" y="2590809"/>
            <a:ext cx="342900" cy="342900"/>
          </a:xfrm>
          <a:prstGeom prst="rect">
            <a:avLst/>
          </a:prstGeom>
        </p:spPr>
      </p:pic>
      <p:pic>
        <p:nvPicPr>
          <p:cNvPr id="80" name="Picture 79" descr="image.png">
            <a:extLst>
              <a:ext uri="{FF2B5EF4-FFF2-40B4-BE49-F238E27FC236}">
                <a16:creationId xmlns:a16="http://schemas.microsoft.com/office/drawing/2014/main" id="{0FAB0BFF-CE4C-9102-0C57-8838F9B27C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1468" y="3333759"/>
            <a:ext cx="342900" cy="342900"/>
          </a:xfrm>
          <a:prstGeom prst="rect">
            <a:avLst/>
          </a:prstGeom>
        </p:spPr>
      </p:pic>
      <p:pic>
        <p:nvPicPr>
          <p:cNvPr id="82" name="Picture 81" descr="image.png">
            <a:extLst>
              <a:ext uri="{FF2B5EF4-FFF2-40B4-BE49-F238E27FC236}">
                <a16:creationId xmlns:a16="http://schemas.microsoft.com/office/drawing/2014/main" id="{E2F5DCA9-862F-78B4-1F3B-73F72E678D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01468" y="4076709"/>
            <a:ext cx="342900" cy="342900"/>
          </a:xfrm>
          <a:prstGeom prst="rect">
            <a:avLst/>
          </a:prstGeom>
        </p:spPr>
      </p:pic>
      <p:pic>
        <p:nvPicPr>
          <p:cNvPr id="84" name="Picture 83" descr="image.png">
            <a:extLst>
              <a:ext uri="{FF2B5EF4-FFF2-40B4-BE49-F238E27FC236}">
                <a16:creationId xmlns:a16="http://schemas.microsoft.com/office/drawing/2014/main" id="{306C7F34-5215-03CA-F505-36A497563F8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1190" y="2686059"/>
            <a:ext cx="171450" cy="152400"/>
          </a:xfrm>
          <a:prstGeom prst="rect">
            <a:avLst/>
          </a:prstGeom>
        </p:spPr>
      </p:pic>
      <p:pic>
        <p:nvPicPr>
          <p:cNvPr id="86" name="Picture 85" descr="image.png">
            <a:extLst>
              <a:ext uri="{FF2B5EF4-FFF2-40B4-BE49-F238E27FC236}">
                <a16:creationId xmlns:a16="http://schemas.microsoft.com/office/drawing/2014/main" id="{BB311E5C-07F6-915F-E7D7-52B8EF3D50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715" y="3429009"/>
            <a:ext cx="152400" cy="152400"/>
          </a:xfrm>
          <a:prstGeom prst="rect">
            <a:avLst/>
          </a:prstGeom>
        </p:spPr>
      </p:pic>
      <p:pic>
        <p:nvPicPr>
          <p:cNvPr id="88" name="Picture 87" descr="image.png">
            <a:extLst>
              <a:ext uri="{FF2B5EF4-FFF2-40B4-BE49-F238E27FC236}">
                <a16:creationId xmlns:a16="http://schemas.microsoft.com/office/drawing/2014/main" id="{46243A09-1F5B-885C-85A6-EDC4AAA81F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240" y="4171959"/>
            <a:ext cx="133350" cy="152400"/>
          </a:xfrm>
          <a:prstGeom prst="rect">
            <a:avLst/>
          </a:prstGeom>
        </p:spPr>
      </p:pic>
      <p:pic>
        <p:nvPicPr>
          <p:cNvPr id="90" name="Picture 89" descr="image.png">
            <a:extLst>
              <a:ext uri="{FF2B5EF4-FFF2-40B4-BE49-F238E27FC236}">
                <a16:creationId xmlns:a16="http://schemas.microsoft.com/office/drawing/2014/main" id="{4AFF395E-7846-ACCE-44BB-A7A37CD6DC8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79366" y="2364369"/>
            <a:ext cx="419100" cy="419100"/>
          </a:xfrm>
          <a:prstGeom prst="rect">
            <a:avLst/>
          </a:prstGeom>
        </p:spPr>
      </p:pic>
      <p:pic>
        <p:nvPicPr>
          <p:cNvPr id="92" name="Picture 91" descr="image.png">
            <a:extLst>
              <a:ext uri="{FF2B5EF4-FFF2-40B4-BE49-F238E27FC236}">
                <a16:creationId xmlns:a16="http://schemas.microsoft.com/office/drawing/2014/main" id="{BF88863B-B9F1-D559-2825-DA08B30BEAE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96718" y="2686059"/>
            <a:ext cx="152400" cy="152400"/>
          </a:xfrm>
          <a:prstGeom prst="rect">
            <a:avLst/>
          </a:prstGeom>
        </p:spPr>
      </p:pic>
      <p:pic>
        <p:nvPicPr>
          <p:cNvPr id="94" name="Picture 93" descr="image.png">
            <a:extLst>
              <a:ext uri="{FF2B5EF4-FFF2-40B4-BE49-F238E27FC236}">
                <a16:creationId xmlns:a16="http://schemas.microsoft.com/office/drawing/2014/main" id="{E3A89695-AD08-541E-E6EE-B40BD367B4E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96718" y="3429009"/>
            <a:ext cx="152400" cy="152400"/>
          </a:xfrm>
          <a:prstGeom prst="rect">
            <a:avLst/>
          </a:prstGeom>
        </p:spPr>
      </p:pic>
      <p:pic>
        <p:nvPicPr>
          <p:cNvPr id="96" name="Picture 95" descr="image.png">
            <a:extLst>
              <a:ext uri="{FF2B5EF4-FFF2-40B4-BE49-F238E27FC236}">
                <a16:creationId xmlns:a16="http://schemas.microsoft.com/office/drawing/2014/main" id="{DCEED9FE-9404-1E9E-F8BE-CEAA8887D9E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87193" y="4171959"/>
            <a:ext cx="171450" cy="152400"/>
          </a:xfrm>
          <a:prstGeom prst="rect">
            <a:avLst/>
          </a:prstGeom>
        </p:spPr>
      </p:pic>
      <p:pic>
        <p:nvPicPr>
          <p:cNvPr id="98" name="Picture 97" descr="image.png">
            <a:extLst>
              <a:ext uri="{FF2B5EF4-FFF2-40B4-BE49-F238E27FC236}">
                <a16:creationId xmlns:a16="http://schemas.microsoft.com/office/drawing/2014/main" id="{15A41E1B-96E6-7F9F-FC3B-C99FAE6969F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93666" y="2478669"/>
            <a:ext cx="190500" cy="190500"/>
          </a:xfrm>
          <a:prstGeom prst="rect">
            <a:avLst/>
          </a:prstGeom>
        </p:spPr>
      </p:pic>
      <p:sp>
        <p:nvSpPr>
          <p:cNvPr id="100" name="Rounded Rectangle 25">
            <a:extLst>
              <a:ext uri="{FF2B5EF4-FFF2-40B4-BE49-F238E27FC236}">
                <a16:creationId xmlns:a16="http://schemas.microsoft.com/office/drawing/2014/main" id="{E73E5455-3D76-4FA0-0D1B-7D60552710E4}"/>
              </a:ext>
            </a:extLst>
          </p:cNvPr>
          <p:cNvSpPr/>
          <p:nvPr/>
        </p:nvSpPr>
        <p:spPr>
          <a:xfrm>
            <a:off x="4509837" y="3145419"/>
            <a:ext cx="3358306" cy="15621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136345E8-2787-1F87-7530-F8C864DE9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4148869"/>
              </p:ext>
            </p:extLst>
          </p:nvPr>
        </p:nvGraphicFramePr>
        <p:xfrm>
          <a:off x="4509837" y="3145419"/>
          <a:ext cx="3358306" cy="1562100"/>
        </p:xfrm>
        <a:graphic>
          <a:graphicData uri="http://schemas.openxmlformats.org/drawingml/2006/table">
            <a:tbl>
              <a:tblPr/>
              <a:tblGrid>
                <a:gridCol w="20112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70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900" b="1" i="0" u="none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1" i="0" u="none">
                          <a:solidFill>
                            <a:srgbClr val="FFFFFF"/>
                          </a:solidFill>
                          <a:latin typeface="Montserrat" pitchFamily="2" charset="0"/>
                        </a:rPr>
                        <a:t>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40A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975" b="1" i="0" u="none" dirty="0">
                          <a:solidFill>
                            <a:srgbClr val="334155"/>
                          </a:solidFill>
                          <a:latin typeface="Montserrat" pitchFamily="2" charset="0"/>
                        </a:rPr>
                        <a:t>Optimizer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 i="0" u="none">
                          <a:solidFill>
                            <a:srgbClr val="2563EB"/>
                          </a:solidFill>
                          <a:latin typeface="Montserrat" pitchFamily="2" charset="0"/>
                        </a:rPr>
                        <a:t>AdamW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Montserrat" pitchFamily="2" charset="0"/>
                        </a:rPr>
                        <a:t>Learning Rate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 i="0" u="none">
                          <a:solidFill>
                            <a:srgbClr val="2563EB"/>
                          </a:solidFill>
                          <a:latin typeface="Montserrat" pitchFamily="2" charset="0"/>
                        </a:rPr>
                        <a:t>1 × 10⁻⁴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Montserrat" pitchFamily="2" charset="0"/>
                        </a:rPr>
                        <a:t>Batch Size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 i="0" u="none">
                          <a:solidFill>
                            <a:srgbClr val="2563EB"/>
                          </a:solidFill>
                          <a:latin typeface="Montserrat" pitchFamily="2" charset="0"/>
                        </a:rPr>
                        <a:t>32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2420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34155"/>
                          </a:solidFill>
                          <a:latin typeface="Montserrat" pitchFamily="2" charset="0"/>
                        </a:rPr>
                        <a:t>Epochs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75" b="1" i="0" u="none" dirty="0">
                          <a:solidFill>
                            <a:srgbClr val="2563EB"/>
                          </a:solidFill>
                          <a:latin typeface="Montserrat" pitchFamily="2" charset="0"/>
                        </a:rPr>
                        <a:t>10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4" name="TextBox 103">
            <a:extLst>
              <a:ext uri="{FF2B5EF4-FFF2-40B4-BE49-F238E27FC236}">
                <a16:creationId xmlns:a16="http://schemas.microsoft.com/office/drawing/2014/main" id="{83AD4BE5-4AE6-A7C2-BF7C-7CE06AA677B5}"/>
              </a:ext>
            </a:extLst>
          </p:cNvPr>
          <p:cNvSpPr txBox="1"/>
          <p:nvPr/>
        </p:nvSpPr>
        <p:spPr>
          <a:xfrm>
            <a:off x="1536234" y="2025811"/>
            <a:ext cx="1373774" cy="307777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1E40AF"/>
                </a:solidFill>
                <a:latin typeface="Montserrat" pitchFamily="2" charset="0"/>
              </a:rPr>
              <a:t>MODELS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F6D6C47B-B47D-F6A6-1622-6AF892600803}"/>
              </a:ext>
            </a:extLst>
          </p:cNvPr>
          <p:cNvSpPr txBox="1"/>
          <p:nvPr/>
        </p:nvSpPr>
        <p:spPr>
          <a:xfrm>
            <a:off x="1302665" y="2600334"/>
            <a:ext cx="78547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Montserrat" pitchFamily="2" charset="0"/>
              </a:rPr>
              <a:t>ResNet-50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C4B2465-4993-4C0E-026D-03109ED27C8B}"/>
              </a:ext>
            </a:extLst>
          </p:cNvPr>
          <p:cNvSpPr txBox="1"/>
          <p:nvPr/>
        </p:nvSpPr>
        <p:spPr>
          <a:xfrm>
            <a:off x="1302665" y="2781309"/>
            <a:ext cx="1763303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Montserrat" pitchFamily="2" charset="0"/>
              </a:rPr>
              <a:t>~25.6M Params | Residual CNN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58C8843-FD5B-4A7B-3B33-694D3F6A40F2}"/>
              </a:ext>
            </a:extLst>
          </p:cNvPr>
          <p:cNvSpPr txBox="1"/>
          <p:nvPr/>
        </p:nvSpPr>
        <p:spPr>
          <a:xfrm>
            <a:off x="1302665" y="3343284"/>
            <a:ext cx="1152560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0F172A"/>
                </a:solidFill>
                <a:latin typeface="Montserrat" pitchFamily="2" charset="0"/>
              </a:rPr>
              <a:t>EfficientNet</a:t>
            </a:r>
            <a:r>
              <a:rPr sz="1125" b="1" i="0" u="none" dirty="0">
                <a:solidFill>
                  <a:srgbClr val="0F172A"/>
                </a:solidFill>
                <a:latin typeface="Montserrat" pitchFamily="2" charset="0"/>
              </a:rPr>
              <a:t> B0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FD3C5DB5-14EF-8944-C6EE-11BF2D984B0D}"/>
              </a:ext>
            </a:extLst>
          </p:cNvPr>
          <p:cNvSpPr txBox="1"/>
          <p:nvPr/>
        </p:nvSpPr>
        <p:spPr>
          <a:xfrm>
            <a:off x="1302665" y="3524259"/>
            <a:ext cx="1391407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Montserrat" pitchFamily="2" charset="0"/>
              </a:rPr>
              <a:t>~5.3M Params | </a:t>
            </a:r>
            <a:r>
              <a:rPr sz="900" b="0" i="0" u="none" dirty="0" err="1">
                <a:solidFill>
                  <a:srgbClr val="64748B"/>
                </a:solidFill>
                <a:latin typeface="Montserrat" pitchFamily="2" charset="0"/>
              </a:rPr>
              <a:t>MBConv</a:t>
            </a:r>
            <a:endParaRPr sz="900" b="0" i="0" u="none" dirty="0">
              <a:solidFill>
                <a:srgbClr val="64748B"/>
              </a:solidFill>
              <a:latin typeface="Montserrat" pitchFamily="2" charset="0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5C65B03F-2FEB-0B14-3461-7BCA16A5717D}"/>
              </a:ext>
            </a:extLst>
          </p:cNvPr>
          <p:cNvSpPr txBox="1"/>
          <p:nvPr/>
        </p:nvSpPr>
        <p:spPr>
          <a:xfrm>
            <a:off x="1302665" y="4086234"/>
            <a:ext cx="642805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Montserrat" pitchFamily="2" charset="0"/>
              </a:rPr>
              <a:t>ViT_B_16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9355F726-3541-694F-8692-6E6ADAF53F81}"/>
              </a:ext>
            </a:extLst>
          </p:cNvPr>
          <p:cNvSpPr txBox="1"/>
          <p:nvPr/>
        </p:nvSpPr>
        <p:spPr>
          <a:xfrm>
            <a:off x="1302665" y="4267209"/>
            <a:ext cx="2075889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Montserrat" pitchFamily="2" charset="0"/>
              </a:rPr>
              <a:t>~86.0M Params | Vision Transformer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9ED4B15-FC8C-7BAD-D40C-38458CFC2B59}"/>
              </a:ext>
            </a:extLst>
          </p:cNvPr>
          <p:cNvSpPr txBox="1"/>
          <p:nvPr/>
        </p:nvSpPr>
        <p:spPr>
          <a:xfrm>
            <a:off x="4798310" y="1694357"/>
            <a:ext cx="2781211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000" b="1" i="0" u="none" dirty="0">
                <a:solidFill>
                  <a:srgbClr val="1E40AF"/>
                </a:solidFill>
                <a:latin typeface="Montserrat" pitchFamily="2" charset="0"/>
              </a:rPr>
              <a:t>HYPERPARAMETERS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401A74F7-1F25-0EFF-1957-48EBE365CF1E}"/>
              </a:ext>
            </a:extLst>
          </p:cNvPr>
          <p:cNvSpPr txBox="1"/>
          <p:nvPr/>
        </p:nvSpPr>
        <p:spPr>
          <a:xfrm>
            <a:off x="8858668" y="2600334"/>
            <a:ext cx="724557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Montserrat" pitchFamily="2" charset="0"/>
              </a:rPr>
              <a:t>RTX 4090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4B95B131-EBC2-C9A0-7B6C-526CF403D63B}"/>
              </a:ext>
            </a:extLst>
          </p:cNvPr>
          <p:cNvSpPr txBox="1"/>
          <p:nvPr/>
        </p:nvSpPr>
        <p:spPr>
          <a:xfrm>
            <a:off x="8858668" y="2781309"/>
            <a:ext cx="1245534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Montserrat" pitchFamily="2" charset="0"/>
              </a:rPr>
              <a:t>24GB GDDR6X VRAM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38C688BB-040B-AE9C-3E65-E3129C365232}"/>
              </a:ext>
            </a:extLst>
          </p:cNvPr>
          <p:cNvSpPr txBox="1"/>
          <p:nvPr/>
        </p:nvSpPr>
        <p:spPr>
          <a:xfrm>
            <a:off x="8858668" y="3343284"/>
            <a:ext cx="1288814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Montserrat" pitchFamily="2" charset="0"/>
              </a:rPr>
              <a:t>Ryzen 9 7950x3D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03CF8D6-CCFC-1FEF-80A8-1BF9A08AC84E}"/>
              </a:ext>
            </a:extLst>
          </p:cNvPr>
          <p:cNvSpPr txBox="1"/>
          <p:nvPr/>
        </p:nvSpPr>
        <p:spPr>
          <a:xfrm>
            <a:off x="8858668" y="3524259"/>
            <a:ext cx="1191032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Montserrat" pitchFamily="2" charset="0"/>
              </a:rPr>
              <a:t>16 Cores / 32 Threads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9DAB921-673D-2F83-CA2F-237B8D55DA4C}"/>
              </a:ext>
            </a:extLst>
          </p:cNvPr>
          <p:cNvSpPr txBox="1"/>
          <p:nvPr/>
        </p:nvSpPr>
        <p:spPr>
          <a:xfrm>
            <a:off x="8858668" y="4086234"/>
            <a:ext cx="881652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>
                <a:solidFill>
                  <a:srgbClr val="0F172A"/>
                </a:solidFill>
                <a:latin typeface="Montserrat" pitchFamily="2" charset="0"/>
              </a:rPr>
              <a:t>64GB DDR5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048F902-D0AD-A037-D1AF-E704216F31FC}"/>
              </a:ext>
            </a:extLst>
          </p:cNvPr>
          <p:cNvSpPr txBox="1"/>
          <p:nvPr/>
        </p:nvSpPr>
        <p:spPr>
          <a:xfrm>
            <a:off x="8858668" y="4267209"/>
            <a:ext cx="1543692" cy="1384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 dirty="0">
                <a:solidFill>
                  <a:srgbClr val="64748B"/>
                </a:solidFill>
                <a:latin typeface="Montserrat" pitchFamily="2" charset="0"/>
              </a:rPr>
              <a:t>@ 6000MHz Dual-Channel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63E49F2-D92E-C366-3384-F553B38294C1}"/>
              </a:ext>
            </a:extLst>
          </p:cNvPr>
          <p:cNvSpPr txBox="1"/>
          <p:nvPr/>
        </p:nvSpPr>
        <p:spPr>
          <a:xfrm>
            <a:off x="9264686" y="2049669"/>
            <a:ext cx="1644682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2000" b="1" i="0" u="none" dirty="0">
                <a:solidFill>
                  <a:srgbClr val="1E40AF"/>
                </a:solidFill>
                <a:latin typeface="Montserrat" pitchFamily="2" charset="0"/>
              </a:rPr>
              <a:t>HARDWARE</a:t>
            </a:r>
            <a:endParaRPr sz="2000" b="1" i="0" u="none" dirty="0">
              <a:solidFill>
                <a:srgbClr val="1E40AF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21025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5C8C7-EF2A-0552-14A8-45F50147B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FEC9EBBE-54B6-28E1-D78F-CCD686A8A0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8671410"/>
              </p:ext>
            </p:extLst>
          </p:nvPr>
        </p:nvGraphicFramePr>
        <p:xfrm>
          <a:off x="688252" y="4185792"/>
          <a:ext cx="11052084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5392">
                  <a:extLst>
                    <a:ext uri="{9D8B030D-6E8A-4147-A177-3AD203B41FA5}">
                      <a16:colId xmlns:a16="http://schemas.microsoft.com/office/drawing/2014/main" val="4243650283"/>
                    </a:ext>
                  </a:extLst>
                </a:gridCol>
                <a:gridCol w="1552782">
                  <a:extLst>
                    <a:ext uri="{9D8B030D-6E8A-4147-A177-3AD203B41FA5}">
                      <a16:colId xmlns:a16="http://schemas.microsoft.com/office/drawing/2014/main" val="4163580009"/>
                    </a:ext>
                  </a:extLst>
                </a:gridCol>
                <a:gridCol w="1552782">
                  <a:extLst>
                    <a:ext uri="{9D8B030D-6E8A-4147-A177-3AD203B41FA5}">
                      <a16:colId xmlns:a16="http://schemas.microsoft.com/office/drawing/2014/main" val="222789512"/>
                    </a:ext>
                  </a:extLst>
                </a:gridCol>
                <a:gridCol w="1552782">
                  <a:extLst>
                    <a:ext uri="{9D8B030D-6E8A-4147-A177-3AD203B41FA5}">
                      <a16:colId xmlns:a16="http://schemas.microsoft.com/office/drawing/2014/main" val="2796953602"/>
                    </a:ext>
                  </a:extLst>
                </a:gridCol>
                <a:gridCol w="1552782">
                  <a:extLst>
                    <a:ext uri="{9D8B030D-6E8A-4147-A177-3AD203B41FA5}">
                      <a16:colId xmlns:a16="http://schemas.microsoft.com/office/drawing/2014/main" val="1196239602"/>
                    </a:ext>
                  </a:extLst>
                </a:gridCol>
                <a:gridCol w="1552782">
                  <a:extLst>
                    <a:ext uri="{9D8B030D-6E8A-4147-A177-3AD203B41FA5}">
                      <a16:colId xmlns:a16="http://schemas.microsoft.com/office/drawing/2014/main" val="342058615"/>
                    </a:ext>
                  </a:extLst>
                </a:gridCol>
                <a:gridCol w="1552782">
                  <a:extLst>
                    <a:ext uri="{9D8B030D-6E8A-4147-A177-3AD203B41FA5}">
                      <a16:colId xmlns:a16="http://schemas.microsoft.com/office/drawing/2014/main" val="1513190258"/>
                    </a:ext>
                  </a:extLst>
                </a:gridCol>
              </a:tblGrid>
              <a:tr h="22092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Train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Val Acc.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VRAM (MB)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689090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ResNet-50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0.9862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0.9387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0.9396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23,520,326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1438.88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2958.55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826582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EfficientNet-B0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0.9848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0.9333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0.9345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4,015,234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1372.45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2973.57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079469"/>
                  </a:ext>
                </a:extLst>
              </a:tr>
              <a:tr h="220927"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ViT</a:t>
                      </a: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-B/16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0.9691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0.9300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0.9312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85,803,270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1809.19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5165.87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8865286"/>
                  </a:ext>
                </a:extLst>
              </a:tr>
            </a:tbl>
          </a:graphicData>
        </a:graphic>
      </p:graphicFrame>
      <p:sp>
        <p:nvSpPr>
          <p:cNvPr id="51" name="Rounded Rectangle 1">
            <a:extLst>
              <a:ext uri="{FF2B5EF4-FFF2-40B4-BE49-F238E27FC236}">
                <a16:creationId xmlns:a16="http://schemas.microsoft.com/office/drawing/2014/main" id="{426772D3-D416-ACF5-7CA2-0F92996040BD}"/>
              </a:ext>
            </a:extLst>
          </p:cNvPr>
          <p:cNvSpPr/>
          <p:nvPr/>
        </p:nvSpPr>
        <p:spPr>
          <a:xfrm>
            <a:off x="4540608" y="1327436"/>
            <a:ext cx="3293390" cy="2337913"/>
          </a:xfrm>
          <a:prstGeom prst="roundRect">
            <a:avLst>
              <a:gd name="adj" fmla="val 3041"/>
            </a:avLst>
          </a:prstGeom>
          <a:solidFill>
            <a:schemeClr val="bg1"/>
          </a:solidFill>
          <a:ln w="9525">
            <a:solidFill>
              <a:srgbClr val="1E40A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78FD06F-2EF5-CD43-1339-A437F024518B}"/>
              </a:ext>
            </a:extLst>
          </p:cNvPr>
          <p:cNvSpPr txBox="1"/>
          <p:nvPr/>
        </p:nvSpPr>
        <p:spPr>
          <a:xfrm>
            <a:off x="5147756" y="1614466"/>
            <a:ext cx="207909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000" b="1" i="0" dirty="0">
                <a:latin typeface="Montserrat" pitchFamily="2" charset="0"/>
              </a:rPr>
              <a:t>EfficientNet-B0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821DA56-BC86-70B0-9AC0-C78620AC659B}"/>
              </a:ext>
            </a:extLst>
          </p:cNvPr>
          <p:cNvSpPr txBox="1"/>
          <p:nvPr/>
        </p:nvSpPr>
        <p:spPr>
          <a:xfrm>
            <a:off x="4736788" y="2009218"/>
            <a:ext cx="2955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284C7"/>
                </a:solidFill>
                <a:latin typeface="Montserrat" pitchFamily="2" charset="0"/>
              </a:rPr>
              <a:t>4.0M Params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17F505-03C3-50F9-3378-A19875C3D765}"/>
              </a:ext>
            </a:extLst>
          </p:cNvPr>
          <p:cNvSpPr txBox="1"/>
          <p:nvPr/>
        </p:nvSpPr>
        <p:spPr>
          <a:xfrm>
            <a:off x="4639159" y="2698695"/>
            <a:ext cx="3052641" cy="6924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Montserrat" pitchFamily="2" charset="0"/>
              </a:rPr>
              <a:t>Near-</a:t>
            </a:r>
            <a:r>
              <a:rPr lang="en-US" sz="1300" b="1" dirty="0" err="1">
                <a:latin typeface="Montserrat" pitchFamily="2" charset="0"/>
              </a:rPr>
              <a:t>ResNet</a:t>
            </a:r>
            <a:r>
              <a:rPr lang="en-US" sz="1300" b="1" dirty="0">
                <a:latin typeface="Montserrat" pitchFamily="2" charset="0"/>
              </a:rPr>
              <a:t> Performance </a:t>
            </a:r>
            <a:r>
              <a:rPr lang="en-US" sz="1300" dirty="0">
                <a:latin typeface="Montserrat" pitchFamily="2" charset="0"/>
              </a:rPr>
              <a:t>(93.33% Val Acc.)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Montserrat" pitchFamily="2" charset="0"/>
              </a:rPr>
              <a:t>Fastest Training </a:t>
            </a:r>
            <a:r>
              <a:rPr lang="en-US" sz="1300" dirty="0">
                <a:latin typeface="Montserrat" pitchFamily="2" charset="0"/>
              </a:rPr>
              <a:t>(22.86 min)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7497E6D7-E0B9-51F9-F51D-8D6EACFB0D87}"/>
              </a:ext>
            </a:extLst>
          </p:cNvPr>
          <p:cNvCxnSpPr>
            <a:cxnSpLocks/>
          </p:cNvCxnSpPr>
          <p:nvPr/>
        </p:nvCxnSpPr>
        <p:spPr>
          <a:xfrm>
            <a:off x="4736788" y="2588218"/>
            <a:ext cx="295501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: Rounded Corners 77">
            <a:extLst>
              <a:ext uri="{FF2B5EF4-FFF2-40B4-BE49-F238E27FC236}">
                <a16:creationId xmlns:a16="http://schemas.microsoft.com/office/drawing/2014/main" id="{AE18F687-4403-755D-5DB4-AFFF237499E5}"/>
              </a:ext>
            </a:extLst>
          </p:cNvPr>
          <p:cNvSpPr/>
          <p:nvPr/>
        </p:nvSpPr>
        <p:spPr>
          <a:xfrm>
            <a:off x="5147756" y="1083532"/>
            <a:ext cx="2079095" cy="400110"/>
          </a:xfrm>
          <a:prstGeom prst="roundRect">
            <a:avLst>
              <a:gd name="adj" fmla="val 50000"/>
            </a:avLst>
          </a:prstGeom>
          <a:solidFill>
            <a:srgbClr val="0284C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Most Efficient</a:t>
            </a:r>
          </a:p>
        </p:txBody>
      </p:sp>
      <p:sp>
        <p:nvSpPr>
          <p:cNvPr id="79" name="Rounded Rectangle 1">
            <a:extLst>
              <a:ext uri="{FF2B5EF4-FFF2-40B4-BE49-F238E27FC236}">
                <a16:creationId xmlns:a16="http://schemas.microsoft.com/office/drawing/2014/main" id="{CAA3AA6E-7A01-DA69-2E03-FC21FF0F4959}"/>
              </a:ext>
            </a:extLst>
          </p:cNvPr>
          <p:cNvSpPr/>
          <p:nvPr/>
        </p:nvSpPr>
        <p:spPr>
          <a:xfrm>
            <a:off x="782269" y="1327436"/>
            <a:ext cx="3293390" cy="2337913"/>
          </a:xfrm>
          <a:prstGeom prst="roundRect">
            <a:avLst>
              <a:gd name="adj" fmla="val 3041"/>
            </a:avLst>
          </a:prstGeom>
          <a:solidFill>
            <a:schemeClr val="bg1"/>
          </a:solidFill>
          <a:ln w="9525">
            <a:solidFill>
              <a:srgbClr val="1E40A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925D8C5-8511-CB11-CEAB-622E0F90BE55}"/>
              </a:ext>
            </a:extLst>
          </p:cNvPr>
          <p:cNvSpPr txBox="1"/>
          <p:nvPr/>
        </p:nvSpPr>
        <p:spPr>
          <a:xfrm>
            <a:off x="1773300" y="1620584"/>
            <a:ext cx="139461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000" b="1" i="0" dirty="0">
                <a:latin typeface="Montserrat" pitchFamily="2" charset="0"/>
              </a:rPr>
              <a:t>ResNet-50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1C347AA-F0D7-BCCD-9D43-9505DA937392}"/>
              </a:ext>
            </a:extLst>
          </p:cNvPr>
          <p:cNvSpPr txBox="1"/>
          <p:nvPr/>
        </p:nvSpPr>
        <p:spPr>
          <a:xfrm>
            <a:off x="978449" y="2009218"/>
            <a:ext cx="2955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284C7"/>
                </a:solidFill>
                <a:latin typeface="Montserrat" pitchFamily="2" charset="0"/>
              </a:rPr>
              <a:t>93.96% F1-Score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7473C76-3E77-5975-C091-62A11CD016BC}"/>
              </a:ext>
            </a:extLst>
          </p:cNvPr>
          <p:cNvSpPr txBox="1"/>
          <p:nvPr/>
        </p:nvSpPr>
        <p:spPr>
          <a:xfrm>
            <a:off x="880820" y="2698695"/>
            <a:ext cx="305264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dirty="0">
                <a:latin typeface="Montserrat" pitchFamily="2" charset="0"/>
              </a:rPr>
              <a:t>Best Overall Accuracy  (93.87% Val Acc.)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Montserrat" pitchFamily="2" charset="0"/>
              </a:rPr>
              <a:t>Moderate Compute </a:t>
            </a:r>
            <a:r>
              <a:rPr lang="en-US" sz="1300" dirty="0">
                <a:latin typeface="Montserrat" pitchFamily="2" charset="0"/>
              </a:rPr>
              <a:t>(23.5M Params)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EB172B87-4F03-8F33-E406-76F9560B0E7E}"/>
              </a:ext>
            </a:extLst>
          </p:cNvPr>
          <p:cNvCxnSpPr>
            <a:cxnSpLocks/>
          </p:cNvCxnSpPr>
          <p:nvPr/>
        </p:nvCxnSpPr>
        <p:spPr>
          <a:xfrm>
            <a:off x="978449" y="2588218"/>
            <a:ext cx="295501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: Rounded Corners 83">
            <a:extLst>
              <a:ext uri="{FF2B5EF4-FFF2-40B4-BE49-F238E27FC236}">
                <a16:creationId xmlns:a16="http://schemas.microsoft.com/office/drawing/2014/main" id="{BAC15287-6673-6A8C-2FAA-73A1049181F3}"/>
              </a:ext>
            </a:extLst>
          </p:cNvPr>
          <p:cNvSpPr/>
          <p:nvPr/>
        </p:nvSpPr>
        <p:spPr>
          <a:xfrm>
            <a:off x="1389417" y="1078399"/>
            <a:ext cx="2079095" cy="400110"/>
          </a:xfrm>
          <a:prstGeom prst="roundRect">
            <a:avLst>
              <a:gd name="adj" fmla="val 50000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 Performance</a:t>
            </a:r>
          </a:p>
        </p:txBody>
      </p:sp>
      <p:sp>
        <p:nvSpPr>
          <p:cNvPr id="85" name="Rounded Rectangle 1">
            <a:extLst>
              <a:ext uri="{FF2B5EF4-FFF2-40B4-BE49-F238E27FC236}">
                <a16:creationId xmlns:a16="http://schemas.microsoft.com/office/drawing/2014/main" id="{F6261C83-BFB6-829E-8F4D-7F28F6455ED1}"/>
              </a:ext>
            </a:extLst>
          </p:cNvPr>
          <p:cNvSpPr/>
          <p:nvPr/>
        </p:nvSpPr>
        <p:spPr>
          <a:xfrm>
            <a:off x="8298947" y="1322303"/>
            <a:ext cx="3293390" cy="2337913"/>
          </a:xfrm>
          <a:prstGeom prst="roundRect">
            <a:avLst>
              <a:gd name="adj" fmla="val 3041"/>
            </a:avLst>
          </a:prstGeom>
          <a:solidFill>
            <a:schemeClr val="bg1"/>
          </a:solidFill>
          <a:ln w="9525">
            <a:solidFill>
              <a:srgbClr val="1E40A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F85E70C-4F6E-0B43-C705-0EE7A76A989F}"/>
              </a:ext>
            </a:extLst>
          </p:cNvPr>
          <p:cNvSpPr txBox="1"/>
          <p:nvPr/>
        </p:nvSpPr>
        <p:spPr>
          <a:xfrm>
            <a:off x="9425288" y="1615064"/>
            <a:ext cx="104836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000" b="1" i="0" dirty="0">
                <a:latin typeface="Montserrat" pitchFamily="2" charset="0"/>
              </a:rPr>
              <a:t>Vit-B/16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199A801-7B42-B1F9-B11E-9379245BC34C}"/>
              </a:ext>
            </a:extLst>
          </p:cNvPr>
          <p:cNvSpPr txBox="1"/>
          <p:nvPr/>
        </p:nvSpPr>
        <p:spPr>
          <a:xfrm>
            <a:off x="8495127" y="2004085"/>
            <a:ext cx="295501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latin typeface="Montserrat" pitchFamily="2" charset="0"/>
              </a:rPr>
              <a:t>5.16 GB VRAM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EBF02A9-E49B-1665-EECB-E603419AD8AE}"/>
              </a:ext>
            </a:extLst>
          </p:cNvPr>
          <p:cNvSpPr txBox="1"/>
          <p:nvPr/>
        </p:nvSpPr>
        <p:spPr>
          <a:xfrm>
            <a:off x="8397498" y="2693562"/>
            <a:ext cx="305264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Montserrat" pitchFamily="2" charset="0"/>
              </a:rPr>
              <a:t>Highest Parameter Count </a:t>
            </a:r>
            <a:r>
              <a:rPr lang="en-US" sz="1300" dirty="0">
                <a:latin typeface="Montserrat" pitchFamily="2" charset="0"/>
              </a:rPr>
              <a:t>(85.8 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Montserrat" pitchFamily="2" charset="0"/>
              </a:rPr>
              <a:t>Lower Performance </a:t>
            </a:r>
            <a:r>
              <a:rPr lang="en-US" sz="1300" dirty="0">
                <a:latin typeface="Montserrat" pitchFamily="2" charset="0"/>
              </a:rPr>
              <a:t>(93.00% Val Acc.)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BA328ED3-E36F-4905-C300-4B82A8D9F425}"/>
              </a:ext>
            </a:extLst>
          </p:cNvPr>
          <p:cNvCxnSpPr>
            <a:cxnSpLocks/>
          </p:cNvCxnSpPr>
          <p:nvPr/>
        </p:nvCxnSpPr>
        <p:spPr>
          <a:xfrm>
            <a:off x="8495127" y="2583085"/>
            <a:ext cx="2955012" cy="0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: Rounded Corners 89">
            <a:extLst>
              <a:ext uri="{FF2B5EF4-FFF2-40B4-BE49-F238E27FC236}">
                <a16:creationId xmlns:a16="http://schemas.microsoft.com/office/drawing/2014/main" id="{86C143E4-A1AB-CDDB-CF20-9FF9CA06E83B}"/>
              </a:ext>
            </a:extLst>
          </p:cNvPr>
          <p:cNvSpPr/>
          <p:nvPr/>
        </p:nvSpPr>
        <p:spPr>
          <a:xfrm>
            <a:off x="8803670" y="1072045"/>
            <a:ext cx="2337925" cy="40011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Resource Intensive</a:t>
            </a:r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6E375E8F-C6FE-50A5-554A-0746453FB9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038" y="534109"/>
            <a:ext cx="550531" cy="550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21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B345C-7585-1525-3AC5-7B7C934DC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D88B0F-73B6-EFEA-5FA5-4A4293F310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76" y="2831668"/>
            <a:ext cx="3215273" cy="21045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D24DF2-A844-E9AC-476C-886C75E47BB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2880" y="2779631"/>
            <a:ext cx="3364263" cy="215657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4C670B-EF88-8154-D735-71E6453400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7474" y="2779630"/>
            <a:ext cx="3354496" cy="21269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A0BF43-F2D5-44E9-0536-088FE156EFFC}"/>
              </a:ext>
            </a:extLst>
          </p:cNvPr>
          <p:cNvSpPr txBox="1"/>
          <p:nvPr/>
        </p:nvSpPr>
        <p:spPr>
          <a:xfrm>
            <a:off x="1651792" y="854428"/>
            <a:ext cx="9244518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3000" b="1" i="0" u="none" dirty="0">
                <a:solidFill>
                  <a:srgbClr val="1E40AF"/>
                </a:solidFill>
                <a:latin typeface="Montserrat" pitchFamily="2" charset="0"/>
              </a:rPr>
              <a:t>LOSS EVOLUTION &amp; CONVERGENCE ANALYSIS</a:t>
            </a:r>
            <a:endParaRPr sz="3000" b="1" i="0" u="none" dirty="0">
              <a:solidFill>
                <a:srgbClr val="1E40AF"/>
              </a:solidFill>
              <a:latin typeface="Montserrat" pitchFamily="2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762CA6-262A-76E7-D916-9AD2B834F44E}"/>
              </a:ext>
            </a:extLst>
          </p:cNvPr>
          <p:cNvSpPr txBox="1"/>
          <p:nvPr/>
        </p:nvSpPr>
        <p:spPr>
          <a:xfrm>
            <a:off x="1387605" y="2356837"/>
            <a:ext cx="1394613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000" b="1" i="0" dirty="0">
                <a:latin typeface="Montserrat" pitchFamily="2" charset="0"/>
              </a:rPr>
              <a:t>ResNet-50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A202C8-2ACF-F5A0-F063-EBADF22C924B}"/>
              </a:ext>
            </a:extLst>
          </p:cNvPr>
          <p:cNvSpPr txBox="1"/>
          <p:nvPr/>
        </p:nvSpPr>
        <p:spPr>
          <a:xfrm>
            <a:off x="5001141" y="2308649"/>
            <a:ext cx="2079095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000" b="1" i="0" dirty="0">
                <a:latin typeface="Montserrat" pitchFamily="2" charset="0"/>
              </a:rPr>
              <a:t>EfficientNet-B0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110B9B-501B-DD01-9857-00EF0397F9C9}"/>
              </a:ext>
            </a:extLst>
          </p:cNvPr>
          <p:cNvSpPr txBox="1"/>
          <p:nvPr/>
        </p:nvSpPr>
        <p:spPr>
          <a:xfrm>
            <a:off x="9410540" y="2338551"/>
            <a:ext cx="1048364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000" b="1" i="0" dirty="0">
                <a:latin typeface="Montserrat" pitchFamily="2" charset="0"/>
              </a:rPr>
              <a:t>Vit-B/16</a:t>
            </a:r>
          </a:p>
        </p:txBody>
      </p:sp>
    </p:spTree>
    <p:extLst>
      <p:ext uri="{BB962C8B-B14F-4D97-AF65-F5344CB8AC3E}">
        <p14:creationId xmlns:p14="http://schemas.microsoft.com/office/powerpoint/2010/main" val="3731342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FBD80-33C5-84E4-B34E-729E7CB11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986F80D-45DA-3F57-DA5D-E4D34333779A}"/>
              </a:ext>
            </a:extLst>
          </p:cNvPr>
          <p:cNvSpPr txBox="1"/>
          <p:nvPr/>
        </p:nvSpPr>
        <p:spPr>
          <a:xfrm>
            <a:off x="1570723" y="805437"/>
            <a:ext cx="9050555" cy="4616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3000" b="1" i="0" u="none" dirty="0">
                <a:solidFill>
                  <a:srgbClr val="1E40AF"/>
                </a:solidFill>
                <a:latin typeface="Montserrat" pitchFamily="2" charset="0"/>
              </a:rPr>
              <a:t>Experimental Results and Model Comparison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E8A327-B4A2-A3F9-EFD6-DBA3E54596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16" y="1529364"/>
            <a:ext cx="5181866" cy="36641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55D0DF-B608-B6E0-6C80-ED8556D9DA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86163" y="1529364"/>
            <a:ext cx="5136221" cy="3664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462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1E63C-3BB1-4516-0C5C-299526BE5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29622C52-30E4-D88B-986C-F7DD74DEF127}"/>
              </a:ext>
            </a:extLst>
          </p:cNvPr>
          <p:cNvSpPr txBox="1"/>
          <p:nvPr/>
        </p:nvSpPr>
        <p:spPr>
          <a:xfrm>
            <a:off x="4606011" y="1231640"/>
            <a:ext cx="2979983" cy="6155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4000" b="1" i="0" u="none" dirty="0">
                <a:solidFill>
                  <a:srgbClr val="1E40AF"/>
                </a:solidFill>
                <a:latin typeface="Montserrat" pitchFamily="2" charset="0"/>
              </a:rPr>
              <a:t>Conclusion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496029-AE70-F75B-C537-1D07685BF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3398" y="2146881"/>
            <a:ext cx="2965204" cy="2965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166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</TotalTime>
  <Words>233</Words>
  <Application>Microsoft Office PowerPoint</Application>
  <PresentationFormat>Widescreen</PresentationFormat>
  <Paragraphs>98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Montserrat</vt:lpstr>
      <vt:lpstr>Office Theme</vt:lpstr>
      <vt:lpstr>Convolutional Neural Networks and Vision Transformers for Natural and Urban Scene Classification</vt:lpstr>
      <vt:lpstr>Intel Image Classification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Josue Jauregui</dc:creator>
  <cp:lastModifiedBy>Josue Jauregui</cp:lastModifiedBy>
  <cp:revision>21</cp:revision>
  <dcterms:created xsi:type="dcterms:W3CDTF">2026-10-15T02:14:21Z</dcterms:created>
  <dcterms:modified xsi:type="dcterms:W3CDTF">2026-10-15T20:02:37Z</dcterms:modified>
</cp:coreProperties>
</file>